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9" r:id="rId3"/>
    <p:sldId id="261" r:id="rId4"/>
    <p:sldId id="260" r:id="rId5"/>
    <p:sldId id="257" r:id="rId6"/>
    <p:sldId id="258" r:id="rId7"/>
    <p:sldId id="265" r:id="rId8"/>
    <p:sldId id="259" r:id="rId9"/>
    <p:sldId id="262" r:id="rId10"/>
    <p:sldId id="268" r:id="rId11"/>
    <p:sldId id="267" r:id="rId12"/>
    <p:sldId id="266" r:id="rId13"/>
    <p:sldId id="263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26"/>
    <p:restoredTop sz="94645"/>
  </p:normalViewPr>
  <p:slideViewPr>
    <p:cSldViewPr>
      <p:cViewPr varScale="1">
        <p:scale>
          <a:sx n="163" d="100"/>
          <a:sy n="163" d="100"/>
        </p:scale>
        <p:origin x="18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4C8354-9C6A-2345-9692-7D07D6D01EC8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4D6545-D7FC-9449-9EC8-33A44A19C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64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7f3323286_0_5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7f3323286_0_5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D6545-D7FC-9449-9EC8-33A44A19CA6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446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D6545-D7FC-9449-9EC8-33A44A19CA6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56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D6545-D7FC-9449-9EC8-33A44A19CA6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000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D6545-D7FC-9449-9EC8-33A44A19CA6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571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D6545-D7FC-9449-9EC8-33A44A19CA6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1474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D6545-D7FC-9449-9EC8-33A44A19CA6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2081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D6545-D7FC-9449-9EC8-33A44A19CA6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400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CE397-219F-DD40-5C0F-D95BF421E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FC8F57-846E-6BA1-F25D-9A6D254A3A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8E1F4-5E80-DDD4-244E-28F15412C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C93D-2F9A-5447-8FDC-662A08F74486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ED30E-3CA7-1379-BF7C-6E349AF67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BDEEF-9E2F-2901-1395-2FCC5A072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442EE-1A76-FE4E-8038-8E901B93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368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07205-54DA-24FE-FFA5-37DCE2025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22D88-46FA-8294-BAEA-1A061194E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5E8C2-830D-D526-85A0-6CD240B72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C93D-2F9A-5447-8FDC-662A08F74486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E8DEF-CFE4-545E-591D-085EC119B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EE250-7DDA-01A2-7EB1-C21FBB0CA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442EE-1A76-FE4E-8038-8E901B93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167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E7C6F-6B3A-C768-82EC-546E28358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9F9E0F-41C3-9DF2-65BF-EE32E87AB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EFD82-A6CC-9DB2-0154-17C12672A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C93D-2F9A-5447-8FDC-662A08F74486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A7E07-4E81-9A62-442A-F5307013B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18A7D-7240-C0F1-F0E4-17B620911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442EE-1A76-FE4E-8038-8E901B93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072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D590F-5E7F-4C4B-94A7-D3C4F7764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A1617-46A7-57C2-9008-C8FF954468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F578A6-C76A-37F8-31CF-A436216A9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2DB152-BD72-2769-7662-ACB5F18DF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C93D-2F9A-5447-8FDC-662A08F74486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906CC-459F-E6A5-ED1D-6DB75E430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036D8F-252D-93BB-F010-99014A6D8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442EE-1A76-FE4E-8038-8E901B93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701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44FA2-8553-2DC2-6471-55EA526E0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445FA3-FCF8-D568-3555-BB33CEEF3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8200AA-ED15-E009-8473-240C3C25D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603B0F-6D82-32BF-80E5-28B03CD5F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1A3C4F-D594-B62A-D955-1EECA8F977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406008-76CB-198B-D56F-C7537358B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C93D-2F9A-5447-8FDC-662A08F74486}" type="datetimeFigureOut">
              <a:rPr lang="en-US" smtClean="0"/>
              <a:t>3/25/26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522D63-82AD-7FB3-9806-BD22F7A79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497D63-0F81-3092-30F4-1D7D36691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442EE-1A76-FE4E-8038-8E901B93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346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9B24C-CAD4-9A22-A1B4-05CA9893A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BB410B-C665-39E2-7084-BC42C0030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C93D-2F9A-5447-8FDC-662A08F74486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2383E0-A644-4B03-EE03-3D96FA61D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690424-D509-9686-855A-326EB41F7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442EE-1A76-FE4E-8038-8E901B93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546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E59622-4540-B3CB-7BF8-8AD779CE0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C93D-2F9A-5447-8FDC-662A08F74486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5EF0F5-6DC8-E626-EDC7-5E60810D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23717A-858E-3294-E67D-5C8223EF4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442EE-1A76-FE4E-8038-8E901B93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53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1EFED-967D-8A89-674D-D885D0326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4160B-8181-984B-5672-70D42BF95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83248F-59F7-7920-622E-F4E394BA22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D2A9B-9AF5-2101-C2EF-D16C4F962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C93D-2F9A-5447-8FDC-662A08F74486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FC8A7-08B7-31C2-E9FB-6CBA29293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DB7B36-CAE2-3C4D-F901-A6C1CB95F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442EE-1A76-FE4E-8038-8E901B93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002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D4A1A-D87B-5B58-08F9-15F2ADD47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71A9C-D7D0-20DB-2181-5088E94EB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1BADA2-27F8-AF46-B76A-46B461BC4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7AA94A-0391-107F-F961-AC6DE0ECE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C93D-2F9A-5447-8FDC-662A08F74486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CDFA10-977B-879B-90C6-4D2224C6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B7012-AC20-AA4C-0688-F4E45F7DB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442EE-1A76-FE4E-8038-8E901B93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613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A9781-38FB-D8C7-9073-A522FA674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B671FF-F802-93B9-C213-E67E681C8F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9817E-9CA3-7A47-E5B2-94D25A160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C93D-2F9A-5447-8FDC-662A08F74486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83451-9F0A-5DFB-9548-F2D8390BB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7960E-47C9-3053-39C0-C4C4CB9C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442EE-1A76-FE4E-8038-8E901B93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704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A551A2-9807-5150-46F3-6D61D1E80C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70871B-09B5-5B0E-4E7D-1426CD7027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13B62-7B90-C34A-1FB9-290919E4E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C93D-2F9A-5447-8FDC-662A08F74486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E5BF5-F367-5B3E-8D19-F865BC5D7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C2430-AA8C-D762-4620-7FACEF7E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442EE-1A76-FE4E-8038-8E901B93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492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1F39B5-B13C-E903-718E-2DBA53A77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D65208-F150-B6EE-C521-2A7F6D242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7063C-831C-DE79-A2FF-EC581A8A3B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94C93D-2F9A-5447-8FDC-662A08F74486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4A536-9BC9-7F59-A3A0-757521A2E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51B21-0C63-AC32-869C-E54BA808F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E442EE-1A76-FE4E-8038-8E901B93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576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mailto:rcurty@ucsb.edu" TargetMode="External"/><Relationship Id="rId3" Type="http://schemas.openxmlformats.org/officeDocument/2006/relationships/image" Target="../media/image3.png"/><Relationship Id="rId7" Type="http://schemas.openxmlformats.org/officeDocument/2006/relationships/hyperlink" Target="mailto:gjanee@ucs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jb160@ucsb.edu" TargetMode="External"/><Relationship Id="rId5" Type="http://schemas.openxmlformats.org/officeDocument/2006/relationships/image" Target="../media/image5.png"/><Relationship Id="rId10" Type="http://schemas.openxmlformats.org/officeDocument/2006/relationships/hyperlink" Target="mailto:aradams@ucsb.edu" TargetMode="External"/><Relationship Id="rId4" Type="http://schemas.openxmlformats.org/officeDocument/2006/relationships/image" Target="../media/image4.png"/><Relationship Id="rId9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csb.instructure.com/courses/32934" TargetMode="External"/><Relationship Id="rId2" Type="http://schemas.openxmlformats.org/officeDocument/2006/relationships/hyperlink" Target="https://ucsb-library-research-data-services.github.io/bren-eds213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ucsb-library-research-data-services.github.io/bren-eds213/modules/week06/index-06.html" TargetMode="External"/><Relationship Id="rId3" Type="http://schemas.openxmlformats.org/officeDocument/2006/relationships/hyperlink" Target="https://ucsb-library-research-data-services.github.io/bren-eds213/modules/week01/index-01.html" TargetMode="External"/><Relationship Id="rId7" Type="http://schemas.openxmlformats.org/officeDocument/2006/relationships/hyperlink" Target="https://ucsb-library-research-data-services.github.io/bren-eds213/modules/week05/index-05.html" TargetMode="External"/><Relationship Id="rId12" Type="http://schemas.openxmlformats.org/officeDocument/2006/relationships/hyperlink" Target="https://ucsb-library-research-data-services.github.io/bren-eds213/modules/week10/index-10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ucsb-library-research-data-services.github.io/bren-eds213/modules/week04/index-04.html" TargetMode="External"/><Relationship Id="rId11" Type="http://schemas.openxmlformats.org/officeDocument/2006/relationships/hyperlink" Target="https://ucsb-library-research-data-services.github.io/bren-eds213/modules/week09/index-09.html" TargetMode="External"/><Relationship Id="rId5" Type="http://schemas.openxmlformats.org/officeDocument/2006/relationships/hyperlink" Target="https://ucsb-library-research-data-services.github.io/bren-eds213/modules/week03/index-03.html" TargetMode="External"/><Relationship Id="rId10" Type="http://schemas.openxmlformats.org/officeDocument/2006/relationships/hyperlink" Target="https://ucsb-library-research-data-services.github.io/bren-eds213/modules/week08/index-08.html" TargetMode="External"/><Relationship Id="rId4" Type="http://schemas.openxmlformats.org/officeDocument/2006/relationships/hyperlink" Target="https://ucsb-library-research-data-services.github.io/bren-eds213/modules/week02/index-02.html" TargetMode="External"/><Relationship Id="rId9" Type="http://schemas.openxmlformats.org/officeDocument/2006/relationships/hyperlink" Target="https://ucsb-library-research-data-services.github.io/bren-eds213/modules/week07/index-07.html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studentconduct.sa.ucsb.edu/academic-integrity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document/d/1wjTt38KQZHUeTCkD-R_6fbhwqVYazCeFY0X_4ISwP98/edit?tab=t.0#heading=h.engt0s48t455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8DE18-1555-702D-262F-2AFC4B7A51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Databases &amp; 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Data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15619-BA57-3D8A-8E52-8D0377763E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EDS-213, v2025</a:t>
            </a:r>
          </a:p>
          <a:p>
            <a:r>
              <a:rPr lang="en-US" dirty="0"/>
              <a:t>Julien Brun, Greg Janée, Renata Curty &amp; Annie Adams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5C1A9F9C-32B3-BCEA-02E9-32987CD88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400" y="304800"/>
            <a:ext cx="1247051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hexagon with yellow text&#10;&#10;AI-generated content may be incorrect.">
            <a:extLst>
              <a:ext uri="{FF2B5EF4-FFF2-40B4-BE49-F238E27FC236}">
                <a16:creationId xmlns:a16="http://schemas.microsoft.com/office/drawing/2014/main" id="{55EE874E-90C1-9BB3-24BB-3A7CFD77E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04800"/>
            <a:ext cx="1362635" cy="1447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B72DD5-34ED-5BCB-F9A7-EAF54084F656}"/>
              </a:ext>
            </a:extLst>
          </p:cNvPr>
          <p:cNvSpPr txBox="1"/>
          <p:nvPr/>
        </p:nvSpPr>
        <p:spPr>
          <a:xfrm>
            <a:off x="3048000" y="32462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965846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6"/>
          <p:cNvPicPr preferRelativeResize="0"/>
          <p:nvPr/>
        </p:nvPicPr>
        <p:blipFill rotWithShape="1">
          <a:blip r:embed="rId3">
            <a:alphaModFix/>
          </a:blip>
          <a:srcRect b="16569"/>
          <a:stretch/>
        </p:blipFill>
        <p:spPr>
          <a:xfrm>
            <a:off x="990600" y="1600200"/>
            <a:ext cx="1950800" cy="1950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3" name="Google Shape;93;p26"/>
          <p:cNvSpPr txBox="1"/>
          <p:nvPr/>
        </p:nvSpPr>
        <p:spPr>
          <a:xfrm>
            <a:off x="868800" y="3833983"/>
            <a:ext cx="2194400" cy="11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/>
            <a:r>
              <a:rPr lang="en" sz="2000" b="1">
                <a:solidFill>
                  <a:srgbClr val="003660"/>
                </a:solidFill>
                <a:latin typeface="Nunito Sans"/>
                <a:ea typeface="Nunito Sans"/>
                <a:cs typeface="Nunito Sans"/>
                <a:sym typeface="Nunito Sans"/>
              </a:rPr>
              <a:t>Greg Janeé</a:t>
            </a:r>
            <a:endParaRPr sz="2000" b="1">
              <a:solidFill>
                <a:srgbClr val="003660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algn="ctr">
              <a:spcBef>
                <a:spcPts val="1333"/>
              </a:spcBef>
            </a:pPr>
            <a:r>
              <a:rPr lang="en" sz="1733">
                <a:solidFill>
                  <a:srgbClr val="003660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Director of RDS</a:t>
            </a:r>
            <a:endParaRPr sz="1733">
              <a:solidFill>
                <a:srgbClr val="003660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pic>
        <p:nvPicPr>
          <p:cNvPr id="94" name="Google Shape;9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5001" y="1600200"/>
            <a:ext cx="1950800" cy="1950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5" name="Google Shape;95;p26"/>
          <p:cNvSpPr txBox="1"/>
          <p:nvPr/>
        </p:nvSpPr>
        <p:spPr>
          <a:xfrm>
            <a:off x="3365800" y="3833994"/>
            <a:ext cx="2349200" cy="11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/>
            <a:r>
              <a:rPr lang="en" sz="2000" b="1">
                <a:solidFill>
                  <a:srgbClr val="003660"/>
                </a:solidFill>
                <a:latin typeface="Nunito Sans"/>
                <a:ea typeface="Nunito Sans"/>
                <a:cs typeface="Nunito Sans"/>
                <a:sym typeface="Nunito Sans"/>
              </a:rPr>
              <a:t>Julien Brun</a:t>
            </a:r>
            <a:endParaRPr sz="2000" b="1">
              <a:solidFill>
                <a:srgbClr val="003660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algn="ctr">
              <a:spcBef>
                <a:spcPts val="1333"/>
              </a:spcBef>
            </a:pPr>
            <a:r>
              <a:rPr lang="en" sz="1733">
                <a:solidFill>
                  <a:srgbClr val="003660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Earth &amp; Env. Sciences Research Facilitator</a:t>
            </a:r>
            <a:endParaRPr sz="1733">
              <a:solidFill>
                <a:srgbClr val="003660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pic>
        <p:nvPicPr>
          <p:cNvPr id="96" name="Google Shape;96;p26"/>
          <p:cNvPicPr preferRelativeResize="0"/>
          <p:nvPr/>
        </p:nvPicPr>
        <p:blipFill rotWithShape="1">
          <a:blip r:embed="rId5">
            <a:alphaModFix/>
          </a:blip>
          <a:srcRect l="4883" r="12074" b="16957"/>
          <a:stretch/>
        </p:blipFill>
        <p:spPr>
          <a:xfrm>
            <a:off x="8750800" y="1600200"/>
            <a:ext cx="1950800" cy="1950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7" name="Google Shape;97;p26"/>
          <p:cNvSpPr txBox="1"/>
          <p:nvPr/>
        </p:nvSpPr>
        <p:spPr>
          <a:xfrm>
            <a:off x="8479600" y="3833983"/>
            <a:ext cx="2493200" cy="11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/>
            <a:r>
              <a:rPr lang="en" sz="2000" b="1">
                <a:solidFill>
                  <a:srgbClr val="003660"/>
                </a:solidFill>
                <a:latin typeface="Nunito Sans"/>
                <a:ea typeface="Nunito Sans"/>
                <a:cs typeface="Nunito Sans"/>
                <a:sym typeface="Nunito Sans"/>
              </a:rPr>
              <a:t>Renata Curty</a:t>
            </a:r>
            <a:endParaRPr sz="2000" b="1">
              <a:solidFill>
                <a:srgbClr val="003660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algn="ctr">
              <a:spcBef>
                <a:spcPts val="1333"/>
              </a:spcBef>
            </a:pPr>
            <a:r>
              <a:rPr lang="en" sz="1733">
                <a:solidFill>
                  <a:srgbClr val="003660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Social Science Research Facilitator</a:t>
            </a:r>
            <a:endParaRPr sz="1733">
              <a:solidFill>
                <a:srgbClr val="003660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99" name="Google Shape;99;p26"/>
          <p:cNvSpPr txBox="1"/>
          <p:nvPr/>
        </p:nvSpPr>
        <p:spPr>
          <a:xfrm>
            <a:off x="5956600" y="3833860"/>
            <a:ext cx="2349200" cy="11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/>
            <a:r>
              <a:rPr lang="en-US" sz="2000" b="1" dirty="0">
                <a:solidFill>
                  <a:srgbClr val="003660"/>
                </a:solidFill>
                <a:latin typeface="Nunito Sans"/>
                <a:ea typeface="Nunito Sans"/>
                <a:cs typeface="Nunito Sans"/>
                <a:sym typeface="Nunito Sans"/>
              </a:rPr>
              <a:t>Annie Adams</a:t>
            </a:r>
            <a:endParaRPr sz="2000" b="1" dirty="0">
              <a:solidFill>
                <a:srgbClr val="003660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algn="ctr">
              <a:spcBef>
                <a:spcPts val="1333"/>
              </a:spcBef>
            </a:pPr>
            <a:r>
              <a:rPr lang="en" sz="1733" dirty="0">
                <a:solidFill>
                  <a:srgbClr val="003660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Bren Lecturer</a:t>
            </a:r>
            <a:endParaRPr sz="1733" dirty="0">
              <a:solidFill>
                <a:srgbClr val="003660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BF0FF5-AEE0-5BE7-DF17-C3FD27544977}"/>
              </a:ext>
            </a:extLst>
          </p:cNvPr>
          <p:cNvSpPr txBox="1"/>
          <p:nvPr/>
        </p:nvSpPr>
        <p:spPr>
          <a:xfrm>
            <a:off x="3624053" y="4926363"/>
            <a:ext cx="1832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ptos Narrow" panose="020B0004020202020204" pitchFamily="34" charset="0"/>
                <a:hlinkClick r:id="rId6"/>
              </a:rPr>
              <a:t>jb160@ucsb.edu</a:t>
            </a:r>
            <a:r>
              <a:rPr lang="en-US" sz="1800" dirty="0">
                <a:latin typeface="Aptos Narrow" panose="020B0004020202020204" pitchFamily="34" charset="0"/>
              </a:rPr>
              <a:t>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713312-7592-E051-65B6-152DBD950746}"/>
              </a:ext>
            </a:extLst>
          </p:cNvPr>
          <p:cNvSpPr txBox="1"/>
          <p:nvPr/>
        </p:nvSpPr>
        <p:spPr>
          <a:xfrm>
            <a:off x="1049653" y="4939155"/>
            <a:ext cx="1832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ptos Narrow" panose="020B0004020202020204" pitchFamily="34" charset="0"/>
                <a:hlinkClick r:id="rId7"/>
              </a:rPr>
              <a:t>gjanee@ucsb.edu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C58CC1-7DF3-A68C-C2ED-024C258D03EA}"/>
              </a:ext>
            </a:extLst>
          </p:cNvPr>
          <p:cNvSpPr txBox="1"/>
          <p:nvPr/>
        </p:nvSpPr>
        <p:spPr>
          <a:xfrm>
            <a:off x="8809820" y="4926363"/>
            <a:ext cx="1832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ptos Narrow" panose="020B0004020202020204" pitchFamily="34" charset="0"/>
                <a:hlinkClick r:id="rId8"/>
              </a:rPr>
              <a:t>rcurty@ucsb.edu</a:t>
            </a:r>
            <a:endParaRPr lang="en-US" dirty="0"/>
          </a:p>
        </p:txBody>
      </p:sp>
      <p:pic>
        <p:nvPicPr>
          <p:cNvPr id="3074" name="Picture 2" descr="Annie Adams - Lecturer at Bren School of Environmental Science &amp; Management - UCSB | LinkedIn">
            <a:extLst>
              <a:ext uri="{FF2B5EF4-FFF2-40B4-BE49-F238E27FC236}">
                <a16:creationId xmlns:a16="http://schemas.microsoft.com/office/drawing/2014/main" id="{161C3FCD-DC5C-AA8E-47B3-3BA025C80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232" y="1600200"/>
            <a:ext cx="1950800" cy="19508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24CFCCB-F8CE-F254-E777-1D2BE062EE91}"/>
              </a:ext>
            </a:extLst>
          </p:cNvPr>
          <p:cNvSpPr txBox="1"/>
          <p:nvPr/>
        </p:nvSpPr>
        <p:spPr>
          <a:xfrm>
            <a:off x="6198453" y="4927427"/>
            <a:ext cx="20124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ptos Narrow" panose="020B0004020202020204" pitchFamily="34" charset="0"/>
                <a:hlinkClick r:id="rId10"/>
              </a:rPr>
              <a:t>aradams@ucsb.edu</a:t>
            </a:r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EDEB0D8-9036-DB80-6A22-411BAEF34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437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503A4-3056-CD3D-7A2D-9CF2E95AD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E19EF-3BF1-9889-F4F6-2B5B83E60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CF03E-E2F1-9FED-6D56-2743440E9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68000" cy="4351338"/>
          </a:xfrm>
        </p:spPr>
        <p:txBody>
          <a:bodyPr>
            <a:normAutofit/>
          </a:bodyPr>
          <a:lstStyle/>
          <a:p>
            <a:r>
              <a:rPr lang="en-US" sz="3200" dirty="0"/>
              <a:t>Course website: </a:t>
            </a:r>
            <a:r>
              <a:rPr lang="en-US" sz="3200" dirty="0">
                <a:hlinkClick r:id="rId2"/>
              </a:rPr>
              <a:t>https://ucsb-library-research-data-services.github.io/bren-eds213/</a:t>
            </a:r>
            <a:br>
              <a:rPr lang="en-US" sz="3200" dirty="0"/>
            </a:br>
            <a:endParaRPr lang="en-US" sz="3200" dirty="0"/>
          </a:p>
          <a:p>
            <a:r>
              <a:rPr lang="en-US" sz="3200" dirty="0"/>
              <a:t>Slack: #eds-213-data</a:t>
            </a:r>
            <a:br>
              <a:rPr lang="en-US" sz="3200" dirty="0"/>
            </a:br>
            <a:endParaRPr lang="en-US" sz="3200" dirty="0"/>
          </a:p>
          <a:p>
            <a:r>
              <a:rPr lang="en-US" sz="3200" dirty="0"/>
              <a:t>Canvas: </a:t>
            </a:r>
            <a:r>
              <a:rPr lang="en-US" sz="3200" dirty="0">
                <a:hlinkClick r:id="rId3"/>
              </a:rPr>
              <a:t>https://ucsb.instructure.com/courses/32934</a:t>
            </a:r>
            <a:r>
              <a:rPr lang="en-US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6038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95911-05F4-88B5-7A30-1831EBD78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46D72-12E8-2350-2448-6D44D32ED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6E496-D9A6-083F-4054-3B52E6289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68000" cy="435133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Lectures:	Mon &amp; Wed	9:30-10:45 AM 	(BH 1424)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Lab:		Wed 			1-2:20 PM 	(BH 3022A)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Office hours:</a:t>
            </a:r>
          </a:p>
          <a:p>
            <a:pPr lvl="1"/>
            <a:r>
              <a:rPr lang="en-US" sz="2800" dirty="0"/>
              <a:t>Greg &amp; Julien:	Mon after class</a:t>
            </a:r>
          </a:p>
          <a:p>
            <a:pPr lvl="1"/>
            <a:r>
              <a:rPr lang="en-US" sz="2800" dirty="0"/>
              <a:t>Annie:  			Wed after class</a:t>
            </a:r>
          </a:p>
        </p:txBody>
      </p:sp>
    </p:spTree>
    <p:extLst>
      <p:ext uri="{BB962C8B-B14F-4D97-AF65-F5344CB8AC3E}">
        <p14:creationId xmlns:p14="http://schemas.microsoft.com/office/powerpoint/2010/main" val="2244814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CC0AB-9571-B8FD-A064-802D8EE4B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Goals –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DCA73-8F82-C53B-665D-32644FD37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96600" cy="4351338"/>
          </a:xfrm>
        </p:spPr>
        <p:txBody>
          <a:bodyPr>
            <a:normAutofit lnSpcReduction="10000"/>
          </a:bodyPr>
          <a:lstStyle/>
          <a:p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</a:rPr>
              <a:t>Understand the fundamental principles of relational databases and relational data modeling</a:t>
            </a:r>
          </a:p>
          <a:p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</a:rPr>
              <a:t>Use SQL to retrieve, manipulate, and manage data stored in a relational database.</a:t>
            </a:r>
          </a:p>
          <a:p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</a:rPr>
              <a:t>Demonstrate proficiency in querying, filtering, sorting, and programmatically interacting with relational databases from R and Python</a:t>
            </a:r>
          </a:p>
          <a:p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</a:rPr>
              <a:t>Explore how those tools can be use to analyze large datasets</a:t>
            </a:r>
          </a:p>
          <a:p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</a:rPr>
              <a:t>Become familiar with advanced database topics such as concurrency, transactions, indexing, backups, and publication.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30EF5DB-FACD-B43C-2910-A9A9BB3C2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9400" y="365125"/>
            <a:ext cx="1380830" cy="1065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A5815AC-EC96-999E-A098-D8BD0114C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635" y="381000"/>
            <a:ext cx="1065212" cy="106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799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BC5CC-F0EE-B0CC-E254-2BA38EEF0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Goals – Data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039A4-ECDC-DDB3-7184-AA8F20D3C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68000" cy="4351338"/>
          </a:xfrm>
        </p:spPr>
        <p:txBody>
          <a:bodyPr>
            <a:normAutofit/>
          </a:bodyPr>
          <a:lstStyle/>
          <a:p>
            <a:r>
              <a:rPr lang="en-US" dirty="0"/>
              <a:t>Understand the role of good data documentation and metadata standards for effective data management and reproducibility</a:t>
            </a:r>
          </a:p>
          <a:p>
            <a:r>
              <a:rPr lang="en-US" dirty="0"/>
              <a:t>Understand the ethics of sensitive data and how to de-identify sensitive data</a:t>
            </a:r>
          </a:p>
          <a:p>
            <a:r>
              <a:rPr lang="en-US" dirty="0"/>
              <a:t>Evaluate ethical and responsible data management practices, including bias, data privacy, sharing, ownership, and licensing issues</a:t>
            </a:r>
          </a:p>
        </p:txBody>
      </p:sp>
    </p:spTree>
    <p:extLst>
      <p:ext uri="{BB962C8B-B14F-4D97-AF65-F5344CB8AC3E}">
        <p14:creationId xmlns:p14="http://schemas.microsoft.com/office/powerpoint/2010/main" val="3326253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DB2AC-18CF-88E1-D4C2-5F6E3616F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EDD77-8001-169C-B4AC-BE89035F4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Goals – </a:t>
            </a:r>
            <a:r>
              <a:rPr lang="en-US" dirty="0">
                <a:solidFill>
                  <a:srgbClr val="002060"/>
                </a:solidFill>
              </a:rPr>
              <a:t>Lab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C0DBC6-3E35-E6C3-6CAE-E0B4AC546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your own database from data you care about</a:t>
            </a:r>
          </a:p>
          <a:p>
            <a:r>
              <a:rPr lang="en-US" dirty="0"/>
              <a:t>Answer some questions that you care about</a:t>
            </a:r>
          </a:p>
          <a:p>
            <a:r>
              <a:rPr lang="en-US" dirty="0"/>
              <a:t>Fun peer-to-peer space to experience </a:t>
            </a:r>
          </a:p>
        </p:txBody>
      </p:sp>
    </p:spTree>
    <p:extLst>
      <p:ext uri="{BB962C8B-B14F-4D97-AF65-F5344CB8AC3E}">
        <p14:creationId xmlns:p14="http://schemas.microsoft.com/office/powerpoint/2010/main" val="4078356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753E4-5A06-4B9C-E656-61FC2AE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CB14F84-B406-88E4-9774-A0AFF0F18A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7847176"/>
              </p:ext>
            </p:extLst>
          </p:nvPr>
        </p:nvGraphicFramePr>
        <p:xfrm>
          <a:off x="609600" y="829587"/>
          <a:ext cx="10820400" cy="5114013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1319503776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40654322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4046820"/>
                    </a:ext>
                  </a:extLst>
                </a:gridCol>
              </a:tblGrid>
              <a:tr h="295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Week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Lecture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Lab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885539"/>
                  </a:ext>
                </a:extLst>
              </a:tr>
              <a:tr h="4568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1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hlinkClick r:id="rId3"/>
                        </a:rPr>
                        <a:t>Relational databases and data modeling</a:t>
                      </a:r>
                      <a:endParaRPr lang="en-US" sz="1800"/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Finding your relational dataset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7789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hlinkClick r:id="rId4"/>
                        </a:rPr>
                        <a:t>Analyzing &amp; cleaning the bird dataset (from csv)</a:t>
                      </a:r>
                      <a:endParaRPr lang="en-US" sz="1800" dirty="0"/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Design the schema of your database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6741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3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hlinkClick r:id="rId5"/>
                        </a:rPr>
                        <a:t>Introduction to SQL (part 1) &amp; DuckDB</a:t>
                      </a:r>
                      <a:endParaRPr lang="en-US" sz="1800"/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Clean and ingest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7867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4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hlinkClick r:id="rId6"/>
                        </a:rPr>
                        <a:t>SQL part 2 + Analyzing the bird database using SQL</a:t>
                      </a:r>
                      <a:endParaRPr lang="en-US" sz="1800"/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Data exploration and analysis using SQL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540578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5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hlinkClick r:id="rId7"/>
                        </a:rPr>
                        <a:t>I/O &amp; data management + DuckDB and Parquet files</a:t>
                      </a:r>
                      <a:endParaRPr lang="en-US" sz="1800"/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Visualize your data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806737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6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hlinkClick r:id="rId8"/>
                        </a:rPr>
                        <a:t>Using R &amp; Python to query databases + bash programming</a:t>
                      </a:r>
                      <a:endParaRPr lang="en-US" sz="1800" dirty="0"/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Finalize and document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298268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7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hlinkClick r:id="rId9"/>
                        </a:rPr>
                        <a:t>Capturing your computing environment + Documenting your work: metadata</a:t>
                      </a:r>
                      <a:endParaRPr lang="en-US" sz="1800" dirty="0"/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Database showcases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09119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8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hlinkClick r:id="rId10"/>
                        </a:rPr>
                        <a:t>Databases advanced topics + Ethical &amp; responsible data mgnt</a:t>
                      </a:r>
                      <a:endParaRPr lang="en-US" sz="1800" dirty="0"/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-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769010"/>
                  </a:ext>
                </a:extLst>
              </a:tr>
              <a:tr h="295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9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hlinkClick r:id="rId11"/>
                        </a:rPr>
                        <a:t>Sensitive data</a:t>
                      </a:r>
                      <a:endParaRPr lang="en-US" sz="1800" dirty="0"/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Sensitive data lab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7844236"/>
                  </a:ext>
                </a:extLst>
              </a:tr>
              <a:tr h="525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10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hlinkClick r:id="rId12"/>
                        </a:rPr>
                        <a:t>Data licensing and publication</a:t>
                      </a:r>
                      <a:endParaRPr lang="en-US" sz="1800" dirty="0"/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-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08055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9127AFB-E48F-A648-8E34-B46574471CBB}"/>
              </a:ext>
            </a:extLst>
          </p:cNvPr>
          <p:cNvSpPr txBox="1"/>
          <p:nvPr/>
        </p:nvSpPr>
        <p:spPr>
          <a:xfrm>
            <a:off x="8077200" y="6400800"/>
            <a:ext cx="3944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*</a:t>
            </a:r>
            <a:r>
              <a:rPr lang="en-US" dirty="0"/>
              <a:t> </a:t>
            </a:r>
            <a:r>
              <a:rPr lang="en-US" i="1" dirty="0"/>
              <a:t>Subject to minor changes as needed</a:t>
            </a:r>
          </a:p>
        </p:txBody>
      </p:sp>
    </p:spTree>
    <p:extLst>
      <p:ext uri="{BB962C8B-B14F-4D97-AF65-F5344CB8AC3E}">
        <p14:creationId xmlns:p14="http://schemas.microsoft.com/office/powerpoint/2010/main" val="3482449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7E35A-A9C6-2617-6AE7-EEFA19166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46504-C42C-36D3-8532-D856F734C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60% on weekly homework assignments </a:t>
            </a:r>
          </a:p>
          <a:p>
            <a:r>
              <a:rPr lang="en-US" dirty="0"/>
              <a:t>20% on quizzes (closed book and computer)</a:t>
            </a:r>
          </a:p>
          <a:p>
            <a:r>
              <a:rPr lang="en-US" dirty="0"/>
              <a:t>20% on Lab project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2 wildcards:</a:t>
            </a:r>
          </a:p>
          <a:p>
            <a:r>
              <a:rPr lang="en-US" dirty="0"/>
              <a:t>1x  24h extension</a:t>
            </a:r>
          </a:p>
          <a:p>
            <a:r>
              <a:rPr lang="en-US" dirty="0"/>
              <a:t>1x  Resubmission (before week 10)</a:t>
            </a:r>
            <a:br>
              <a:rPr lang="en-US" dirty="0"/>
            </a:br>
            <a:r>
              <a:rPr lang="en-US" sz="2000" i="1" dirty="0"/>
              <a:t>NOTE: Points removed due to unfair use of AI can not be earned back this way</a:t>
            </a:r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949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16E2D-4717-C51B-410E-22E443E0B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5877A-33F7-7467-E704-250757396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Assignment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30EFC4-F014-12E1-B1D1-775CF75B4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/>
              <a:t>Weekly assignments will be managed via Canvas</a:t>
            </a:r>
          </a:p>
          <a:p>
            <a:pPr>
              <a:buFontTx/>
              <a:buChar char="-"/>
            </a:pPr>
            <a:r>
              <a:rPr lang="en-US" sz="3200" dirty="0"/>
              <a:t>Available by 5PM on Wednesdays</a:t>
            </a:r>
          </a:p>
          <a:p>
            <a:pPr>
              <a:buFontTx/>
              <a:buChar char="-"/>
            </a:pPr>
            <a:r>
              <a:rPr lang="en-US" sz="3200" dirty="0"/>
              <a:t>Due by next Wednesdays 11PM</a:t>
            </a:r>
          </a:p>
        </p:txBody>
      </p:sp>
    </p:spTree>
    <p:extLst>
      <p:ext uri="{BB962C8B-B14F-4D97-AF65-F5344CB8AC3E}">
        <p14:creationId xmlns:p14="http://schemas.microsoft.com/office/powerpoint/2010/main" val="634306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02897-54BE-50EC-A6A2-4858570AF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0D3B8-C7BE-9A91-C79D-C226422A2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Assessment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1ACD74-0580-C68A-CAE3-377BC204B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/>
              <a:t>4 Main criteria: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Technical concepts (database, data modeling)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Code quality</a:t>
            </a:r>
          </a:p>
          <a:p>
            <a:pPr lvl="2">
              <a:lnSpc>
                <a:spcPct val="100000"/>
              </a:lnSpc>
            </a:pPr>
            <a:r>
              <a:rPr lang="en-US" sz="2800" dirty="0"/>
              <a:t>Code readability</a:t>
            </a:r>
          </a:p>
          <a:p>
            <a:pPr lvl="2">
              <a:lnSpc>
                <a:spcPct val="100000"/>
              </a:lnSpc>
            </a:pPr>
            <a:r>
              <a:rPr lang="en-US" sz="2800" dirty="0"/>
              <a:t>Unnecessary code will be penalized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Documentation</a:t>
            </a:r>
          </a:p>
          <a:p>
            <a:pPr lvl="1">
              <a:lnSpc>
                <a:spcPct val="100000"/>
              </a:lnSpc>
            </a:pPr>
            <a:r>
              <a:rPr lang="en-US" sz="3200" dirty="0"/>
              <a:t>Reproducibility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199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F8E8C-3FC9-6849-D243-9EB38FDC0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85528-3FE0-6384-6DC2-4F38F55F1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Assignments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A8241B8-BCF4-D1CF-2ECB-7153087824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1851170"/>
              </p:ext>
            </p:extLst>
          </p:nvPr>
        </p:nvGraphicFramePr>
        <p:xfrm>
          <a:off x="4648200" y="838200"/>
          <a:ext cx="5257800" cy="3879387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381053421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98950901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346928536"/>
                    </a:ext>
                  </a:extLst>
                </a:gridCol>
              </a:tblGrid>
              <a:tr h="29734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700" b="1" dirty="0">
                          <a:effectLst/>
                        </a:rPr>
                        <a:t>Week</a:t>
                      </a:r>
                    </a:p>
                  </a:txBody>
                  <a:tcPr marL="27196" marR="27196" marT="18131" marB="1813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700" b="1" dirty="0">
                          <a:effectLst/>
                        </a:rPr>
                        <a:t>Assignment</a:t>
                      </a:r>
                    </a:p>
                  </a:txBody>
                  <a:tcPr marL="27196" marR="27196" marT="18131" marB="1813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700" b="1" dirty="0">
                          <a:effectLst/>
                        </a:rPr>
                        <a:t>Points</a:t>
                      </a:r>
                    </a:p>
                  </a:txBody>
                  <a:tcPr marL="27196" marR="27196" marT="18131" marB="1813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076816"/>
                  </a:ext>
                </a:extLst>
              </a:tr>
              <a:tr h="29734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700" dirty="0">
                          <a:effectLst/>
                        </a:rPr>
                        <a:t>1</a:t>
                      </a:r>
                    </a:p>
                  </a:txBody>
                  <a:tcPr marL="27196" marR="27196" marT="18131" marB="1813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700" dirty="0">
                          <a:effectLst/>
                        </a:rPr>
                        <a:t>Data Modeling</a:t>
                      </a:r>
                    </a:p>
                  </a:txBody>
                  <a:tcPr marL="27196" marR="27196" marT="18131" marB="1813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700">
                          <a:effectLst/>
                        </a:rPr>
                        <a:t>100</a:t>
                      </a:r>
                    </a:p>
                  </a:txBody>
                  <a:tcPr marL="27196" marR="27196" marT="18131" marB="1813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020966"/>
                  </a:ext>
                </a:extLst>
              </a:tr>
              <a:tr h="29734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700" dirty="0">
                          <a:effectLst/>
                        </a:rPr>
                        <a:t>2</a:t>
                      </a:r>
                    </a:p>
                  </a:txBody>
                  <a:tcPr marL="27196" marR="27196" marT="18131" marB="1813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700">
                          <a:effectLst/>
                        </a:rPr>
                        <a:t>Data Cleaning</a:t>
                      </a:r>
                    </a:p>
                  </a:txBody>
                  <a:tcPr marL="27196" marR="27196" marT="18131" marB="1813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700">
                          <a:effectLst/>
                        </a:rPr>
                        <a:t>100</a:t>
                      </a:r>
                    </a:p>
                  </a:txBody>
                  <a:tcPr marL="27196" marR="27196" marT="18131" marB="1813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6413544"/>
                  </a:ext>
                </a:extLst>
              </a:tr>
              <a:tr h="29734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700" dirty="0">
                          <a:effectLst/>
                        </a:rPr>
                        <a:t>3</a:t>
                      </a:r>
                    </a:p>
                  </a:txBody>
                  <a:tcPr marL="27196" marR="27196" marT="18131" marB="1813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700">
                          <a:effectLst/>
                        </a:rPr>
                        <a:t>SQL query part I</a:t>
                      </a:r>
                    </a:p>
                  </a:txBody>
                  <a:tcPr marL="27196" marR="27196" marT="18131" marB="1813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700" dirty="0">
                          <a:effectLst/>
                        </a:rPr>
                        <a:t>120</a:t>
                      </a:r>
                    </a:p>
                  </a:txBody>
                  <a:tcPr marL="27196" marR="27196" marT="18131" marB="1813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9598922"/>
                  </a:ext>
                </a:extLst>
              </a:tr>
              <a:tr h="29734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700" dirty="0">
                          <a:effectLst/>
                        </a:rPr>
                        <a:t>4</a:t>
                      </a:r>
                    </a:p>
                  </a:txBody>
                  <a:tcPr marL="27196" marR="27196" marT="18131" marB="1813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700">
                          <a:effectLst/>
                        </a:rPr>
                        <a:t>SQL query part II</a:t>
                      </a:r>
                    </a:p>
                  </a:txBody>
                  <a:tcPr marL="27196" marR="27196" marT="18131" marB="1813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700" dirty="0">
                          <a:effectLst/>
                        </a:rPr>
                        <a:t>120</a:t>
                      </a:r>
                    </a:p>
                  </a:txBody>
                  <a:tcPr marL="27196" marR="27196" marT="18131" marB="1813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3492520"/>
                  </a:ext>
                </a:extLst>
              </a:tr>
              <a:tr h="29734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700" dirty="0">
                          <a:effectLst/>
                        </a:rPr>
                        <a:t>5</a:t>
                      </a:r>
                    </a:p>
                  </a:txBody>
                  <a:tcPr marL="27196" marR="27196" marT="18131" marB="1813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700" dirty="0">
                          <a:effectLst/>
                        </a:rPr>
                        <a:t>Querying Parquet files</a:t>
                      </a:r>
                    </a:p>
                  </a:txBody>
                  <a:tcPr marL="27196" marR="27196" marT="18131" marB="1813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700" dirty="0">
                          <a:effectLst/>
                        </a:rPr>
                        <a:t>100</a:t>
                      </a:r>
                    </a:p>
                  </a:txBody>
                  <a:tcPr marL="27196" marR="27196" marT="18131" marB="1813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559936"/>
                  </a:ext>
                </a:extLst>
              </a:tr>
              <a:tr h="34955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700" dirty="0">
                          <a:effectLst/>
                        </a:rPr>
                        <a:t>6</a:t>
                      </a:r>
                    </a:p>
                  </a:txBody>
                  <a:tcPr marL="27196" marR="27196" marT="18131" marB="1813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700" dirty="0">
                          <a:effectLst/>
                        </a:rPr>
                        <a:t>Using R &amp; Python to query a database</a:t>
                      </a:r>
                    </a:p>
                  </a:txBody>
                  <a:tcPr marL="27196" marR="27196" marT="18131" marB="1813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700">
                          <a:effectLst/>
                        </a:rPr>
                        <a:t>100</a:t>
                      </a:r>
                    </a:p>
                  </a:txBody>
                  <a:tcPr marL="27196" marR="27196" marT="18131" marB="1813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42102"/>
                  </a:ext>
                </a:extLst>
              </a:tr>
              <a:tr h="55842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700" dirty="0">
                          <a:effectLst/>
                        </a:rPr>
                        <a:t>7</a:t>
                      </a:r>
                    </a:p>
                  </a:txBody>
                  <a:tcPr marL="27196" marR="27196" marT="18131" marB="1813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700" dirty="0">
                          <a:effectLst/>
                        </a:rPr>
                        <a:t>Documentation Capstone project   - </a:t>
                      </a:r>
                      <a:r>
                        <a:rPr lang="en-US" sz="1700" i="1" dirty="0">
                          <a:effectLst/>
                        </a:rPr>
                        <a:t>metadata + computing env</a:t>
                      </a:r>
                    </a:p>
                  </a:txBody>
                  <a:tcPr marL="27196" marR="27196" marT="18131" marB="1813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700" dirty="0">
                          <a:effectLst/>
                        </a:rPr>
                        <a:t>50</a:t>
                      </a:r>
                    </a:p>
                  </a:txBody>
                  <a:tcPr marL="27196" marR="27196" marT="18131" marB="1813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882755"/>
                  </a:ext>
                </a:extLst>
              </a:tr>
              <a:tr h="27977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700" dirty="0">
                          <a:effectLst/>
                        </a:rPr>
                        <a:t>8</a:t>
                      </a:r>
                    </a:p>
                  </a:txBody>
                  <a:tcPr marL="27196" marR="27196" marT="18131" marB="1813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700" i="1" dirty="0">
                        <a:effectLst/>
                      </a:endParaRPr>
                    </a:p>
                  </a:txBody>
                  <a:tcPr marL="27196" marR="27196" marT="18131" marB="1813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700" dirty="0">
                          <a:effectLst/>
                        </a:rPr>
                        <a:t>-</a:t>
                      </a:r>
                    </a:p>
                  </a:txBody>
                  <a:tcPr marL="27196" marR="27196" marT="18131" marB="1813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768575"/>
                  </a:ext>
                </a:extLst>
              </a:tr>
              <a:tr h="29734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700" dirty="0">
                          <a:effectLst/>
                        </a:rPr>
                        <a:t>9</a:t>
                      </a:r>
                    </a:p>
                  </a:txBody>
                  <a:tcPr marL="27196" marR="27196" marT="18131" marB="1813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700" dirty="0">
                          <a:effectLst/>
                        </a:rPr>
                        <a:t>Bonus problem</a:t>
                      </a:r>
                    </a:p>
                  </a:txBody>
                  <a:tcPr marL="27196" marR="27196" marT="18131" marB="1813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700" dirty="0">
                          <a:effectLst/>
                        </a:rPr>
                        <a:t>100</a:t>
                      </a:r>
                    </a:p>
                  </a:txBody>
                  <a:tcPr marL="27196" marR="27196" marT="18131" marB="1813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5773450"/>
                  </a:ext>
                </a:extLst>
              </a:tr>
              <a:tr h="29734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700" dirty="0">
                          <a:effectLst/>
                        </a:rPr>
                        <a:t>10</a:t>
                      </a:r>
                    </a:p>
                  </a:txBody>
                  <a:tcPr marL="27196" marR="27196" marT="18131" marB="1813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700">
                          <a:effectLst/>
                        </a:rPr>
                        <a:t>- </a:t>
                      </a:r>
                    </a:p>
                  </a:txBody>
                  <a:tcPr marL="27196" marR="27196" marT="18131" marB="1813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sz="1700" dirty="0">
                          <a:effectLst/>
                        </a:rPr>
                        <a:t>-</a:t>
                      </a:r>
                    </a:p>
                  </a:txBody>
                  <a:tcPr marL="27196" marR="27196" marT="18131" marB="1813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7081764"/>
                  </a:ext>
                </a:extLst>
              </a:tr>
              <a:tr h="297341">
                <a:tc>
                  <a:txBody>
                    <a:bodyPr/>
                    <a:lstStyle/>
                    <a:p>
                      <a:pPr algn="ctr" rtl="0" fontAlgn="b"/>
                      <a:endParaRPr lang="en-US" sz="1700" dirty="0">
                        <a:effectLst/>
                      </a:endParaRPr>
                    </a:p>
                  </a:txBody>
                  <a:tcPr marL="27196" marR="27196" marT="18131" marB="18131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700" dirty="0">
                        <a:effectLst/>
                      </a:endParaRPr>
                    </a:p>
                  </a:txBody>
                  <a:tcPr marL="27196" marR="27196" marT="18131" marB="1813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n-US" sz="1700" dirty="0">
                        <a:effectLst/>
                      </a:endParaRPr>
                    </a:p>
                  </a:txBody>
                  <a:tcPr marL="27196" marR="27196" marT="18131" marB="18131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22810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604BBA6-5976-78DF-D6A6-5F7224D79B41}"/>
              </a:ext>
            </a:extLst>
          </p:cNvPr>
          <p:cNvSpPr txBox="1"/>
          <p:nvPr/>
        </p:nvSpPr>
        <p:spPr>
          <a:xfrm>
            <a:off x="533400" y="1662979"/>
            <a:ext cx="381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baseline="30000" dirty="0"/>
              <a:t>* </a:t>
            </a:r>
            <a:r>
              <a:rPr lang="en-US" sz="2400" i="1" dirty="0"/>
              <a:t>Subject to minor changes </a:t>
            </a:r>
          </a:p>
        </p:txBody>
      </p:sp>
    </p:spTree>
    <p:extLst>
      <p:ext uri="{BB962C8B-B14F-4D97-AF65-F5344CB8AC3E}">
        <p14:creationId xmlns:p14="http://schemas.microsoft.com/office/powerpoint/2010/main" val="1685981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D57C8-0AE8-9B2D-958E-73D4FFFD8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AI Assistant Tools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F1BE2-9AFE-698D-FF46-095969922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/>
              <a:t>Materials (written or otherwise) submitted to fulfill academic requirements must represent a student’s efforts unless otherwise permitted by an instructor    </a:t>
            </a:r>
            <a:r>
              <a:rPr lang="en-US" sz="2000" dirty="0">
                <a:hlinkClick r:id="rId2"/>
              </a:rPr>
              <a:t>Student Guide to Academic Integrity</a:t>
            </a:r>
            <a:br>
              <a:rPr lang="en-US" sz="2000" dirty="0"/>
            </a:br>
            <a:endParaRPr lang="en-US" sz="2000" i="1" dirty="0"/>
          </a:p>
          <a:p>
            <a:r>
              <a:rPr lang="en-US" dirty="0"/>
              <a:t>Disclaim the use of any coding assistant or LLMs (such as ChatGPT, Gemini, …) </a:t>
            </a:r>
          </a:p>
          <a:p>
            <a:r>
              <a:rPr lang="en-US" dirty="0"/>
              <a:t>Understand and explain every line of code that is submitted as part of the assignments, </a:t>
            </a:r>
            <a:r>
              <a:rPr lang="en-US" i="1" dirty="0"/>
              <a:t>including unnecessary code</a:t>
            </a:r>
          </a:p>
          <a:p>
            <a:pPr marL="0" indent="0">
              <a:buNone/>
            </a:pPr>
            <a:r>
              <a:rPr lang="en-US" b="1" i="1" dirty="0"/>
              <a:t> =&gt; refrain from the use of AI tools and keep to practicing your skills and favoring peer-to-peer learning</a:t>
            </a:r>
          </a:p>
        </p:txBody>
      </p:sp>
    </p:spTree>
    <p:extLst>
      <p:ext uri="{BB962C8B-B14F-4D97-AF65-F5344CB8AC3E}">
        <p14:creationId xmlns:p14="http://schemas.microsoft.com/office/powerpoint/2010/main" val="4291811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A9FED-F493-3685-54EC-9999E1F6C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6A7EE-A0E4-B5E5-391D-41BB5A7D4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Attendance Summary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B6343-9A6C-EB17-FDF8-CEAB34B36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i="1" dirty="0"/>
              <a:t>TL;DR:  Come to lecture &amp; Lab!!</a:t>
            </a:r>
          </a:p>
          <a:p>
            <a:pPr marL="0" indent="0">
              <a:buNone/>
            </a:pPr>
            <a:endParaRPr lang="en-US" sz="3200" b="1" i="1" dirty="0"/>
          </a:p>
          <a:p>
            <a:pPr marL="0" indent="0">
              <a:buNone/>
            </a:pPr>
            <a:r>
              <a:rPr lang="en-US" dirty="0"/>
              <a:t>🤒 Stay home when you are sick! Be proactive and notify your instructor as soon as possible; Catch up once you are better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2400" i="1" dirty="0"/>
              <a:t>More info on the course website, under </a:t>
            </a:r>
            <a:r>
              <a:rPr lang="en-US" sz="2400" i="1" dirty="0">
                <a:hlinkClick r:id="rId2"/>
              </a:rPr>
              <a:t>Syllabus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4282094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493</TotalTime>
  <Words>732</Words>
  <Application>Microsoft Macintosh PowerPoint</Application>
  <PresentationFormat>Widescreen</PresentationFormat>
  <Paragraphs>151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Aptos Narrow</vt:lpstr>
      <vt:lpstr>Arial</vt:lpstr>
      <vt:lpstr>Helvetica Neue</vt:lpstr>
      <vt:lpstr>Nunito Sans</vt:lpstr>
      <vt:lpstr>Nunito Sans Medium</vt:lpstr>
      <vt:lpstr>Office Theme</vt:lpstr>
      <vt:lpstr>Databases &amp;  Data Management</vt:lpstr>
      <vt:lpstr>Team</vt:lpstr>
      <vt:lpstr>Resources</vt:lpstr>
      <vt:lpstr>Schedule</vt:lpstr>
      <vt:lpstr>Goals – Database</vt:lpstr>
      <vt:lpstr>Goals – Data management</vt:lpstr>
      <vt:lpstr>Goals – Lab</vt:lpstr>
      <vt:lpstr>PowerPoint Presentation</vt:lpstr>
      <vt:lpstr>Assessment</vt:lpstr>
      <vt:lpstr>Assignment</vt:lpstr>
      <vt:lpstr>Assessment</vt:lpstr>
      <vt:lpstr>Assignments</vt:lpstr>
      <vt:lpstr>AI Assistant Tools </vt:lpstr>
      <vt:lpstr>Attendance 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Julien Brun</dc:creator>
  <cp:lastModifiedBy>Julien Brun</cp:lastModifiedBy>
  <cp:revision>27</cp:revision>
  <dcterms:created xsi:type="dcterms:W3CDTF">2025-03-31T22:45:43Z</dcterms:created>
  <dcterms:modified xsi:type="dcterms:W3CDTF">2026-03-25T21:42:14Z</dcterms:modified>
</cp:coreProperties>
</file>